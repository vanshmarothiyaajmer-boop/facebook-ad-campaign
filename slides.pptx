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F1D35"/>
                </a:solidFill>
                <a:latin typeface="Work Sans"/>
              </a:defRPr>
            </a:pPr>
            <a:r>
              <a:t>CamCampaign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72865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F1B18"/>
                </a:solidFill>
                <a:latin typeface="Fraunces"/>
              </a:defRPr>
            </a:pPr>
            <a:r>
              <a:t>Facebook Ads Campaign for Brew Haven Café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718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75451"/>
                </a:solidFill>
                <a:latin typeface="Work Sans"/>
              </a:defRPr>
            </a:pPr>
            <a:r>
              <a:t>A practice Meta/Facebook advertising campaign designed for a fictional neighborhood coffee brand launching delivery, student deals, and seasonal offers.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9476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9B382"/>
                </a:solidFill>
                <a:latin typeface="Work Sans"/>
              </a:defRPr>
            </a:pPr>
            <a:r>
              <a:t>Course Submission Ready  ·  Imaginary Business  ·  Facebook Ads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Work Sans"/>
              </a:defRPr>
            </a:pPr>
            <a:r>
              <a:t>Facebook Ads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31375" y="6355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Work San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DCD5CC"/>
                </a:solidFill>
                <a:latin typeface="Work Sans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F1D35"/>
                </a:solidFill>
                <a:latin typeface="Work Sans"/>
              </a:defRPr>
            </a:pPr>
            <a:r>
              <a:t>Business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F1B18"/>
                </a:solidFill>
                <a:latin typeface="Fraunces"/>
              </a:defRPr>
            </a:pPr>
            <a:r>
              <a:t>Imaginary business and market position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81447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91440"/>
          <a:lstStyle/>
          <a:p>
            <a:pPr algn="ctr">
              <a:spcAft>
                <a:spcPts val="400"/>
              </a:spcAft>
              <a:defRPr sz="1400" b="1">
                <a:solidFill>
                  <a:srgbClr val="1F1B18"/>
                </a:solidFill>
                <a:latin typeface="Work Sans"/>
              </a:defRPr>
            </a:pPr>
            <a:r>
              <a:t>Brew Haven Café</a:t>
            </a:r>
          </a:p>
          <a:p>
            <a:pPr>
              <a:defRPr sz="1100">
                <a:solidFill>
                  <a:srgbClr val="575451"/>
                </a:solidFill>
                <a:latin typeface="Work Sans"/>
              </a:defRPr>
            </a:pPr>
            <a:r>
              <a:t>An urban coffee shop brand offering artisan drinks, pastries, and same-day local delivery.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8727" y="1554480"/>
            <a:ext cx="5181447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91440"/>
          <a:lstStyle/>
          <a:p>
            <a:pPr algn="ctr">
              <a:spcAft>
                <a:spcPts val="400"/>
              </a:spcAft>
              <a:defRPr sz="1400" b="1">
                <a:solidFill>
                  <a:srgbClr val="1F1B18"/>
                </a:solidFill>
                <a:latin typeface="Work Sans"/>
              </a:defRPr>
            </a:pPr>
            <a:r>
              <a:t>Value Proposition</a:t>
            </a:r>
          </a:p>
          <a:p>
            <a:pPr>
              <a:defRPr sz="1100">
                <a:solidFill>
                  <a:srgbClr val="575451"/>
                </a:solidFill>
                <a:latin typeface="Work Sans"/>
              </a:defRPr>
            </a:pPr>
            <a:r>
              <a:t>Affordable premium coffee, cozy brand identity, student-friendly deals, and quick app ordering.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834640"/>
            <a:ext cx="5181447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91440"/>
          <a:lstStyle/>
          <a:p>
            <a:pPr algn="ctr">
              <a:spcAft>
                <a:spcPts val="400"/>
              </a:spcAft>
              <a:defRPr sz="1400" b="1">
                <a:solidFill>
                  <a:srgbClr val="1F1B18"/>
                </a:solidFill>
                <a:latin typeface="Work Sans"/>
              </a:defRPr>
            </a:pPr>
            <a:r>
              <a:t>Business Goal</a:t>
            </a:r>
          </a:p>
          <a:p>
            <a:pPr>
              <a:defRPr sz="1100">
                <a:solidFill>
                  <a:srgbClr val="575451"/>
                </a:solidFill>
                <a:latin typeface="Work Sans"/>
              </a:defRPr>
            </a:pPr>
            <a:r>
              <a:t>Grow local awareness, increase online orders, and build repeat customers before semester peak traffic.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2834640"/>
            <a:ext cx="5181447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91440"/>
          <a:lstStyle/>
          <a:p>
            <a:pPr algn="ctr">
              <a:spcAft>
                <a:spcPts val="400"/>
              </a:spcAft>
              <a:defRPr sz="1400" b="1">
                <a:solidFill>
                  <a:srgbClr val="1F1B18"/>
                </a:solidFill>
                <a:latin typeface="Work Sans"/>
              </a:defRPr>
            </a:pPr>
            <a:r>
              <a:t>Platform Used</a:t>
            </a:r>
          </a:p>
          <a:p>
            <a:pPr>
              <a:defRPr sz="1100">
                <a:solidFill>
                  <a:srgbClr val="575451"/>
                </a:solidFill>
                <a:latin typeface="Work Sans"/>
              </a:defRPr>
            </a:pPr>
            <a:r>
              <a:t>Facebook and Instagram ads through Meta Ads Manager to reach nearby mobile-first audiences.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Work Sans"/>
              </a:defRPr>
            </a:pPr>
            <a:r>
              <a:t>Imaginary Business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31375" y="6355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Work San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F1D35"/>
                </a:solidFill>
                <a:latin typeface="Work Sans"/>
              </a:defRPr>
            </a:pPr>
            <a:r>
              <a:t>Campaign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F1B18"/>
                </a:solidFill>
                <a:latin typeface="Fraunces"/>
              </a:defRPr>
            </a:pPr>
            <a:r>
              <a:t>What the campaign is trying to achieve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8229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F1B18"/>
                </a:solidFill>
                <a:latin typeface="Work Sans"/>
              </a:defRPr>
            </a:pPr>
            <a:r>
              <a:t>•  Increase brand awareness among students and young professionals within a 10 km radius.</a:t>
            </a:r>
          </a:p>
          <a:p>
            <a:pPr>
              <a:spcAft>
                <a:spcPts val="600"/>
              </a:spcAft>
              <a:defRPr sz="1400">
                <a:solidFill>
                  <a:srgbClr val="1F1B18"/>
                </a:solidFill>
                <a:latin typeface="Work Sans"/>
              </a:defRPr>
            </a:pPr>
            <a:r>
              <a:t>•  Drive website and app traffic to Brew Haven's online order page.</a:t>
            </a:r>
          </a:p>
          <a:p>
            <a:pPr>
              <a:spcAft>
                <a:spcPts val="600"/>
              </a:spcAft>
              <a:defRPr sz="1400">
                <a:solidFill>
                  <a:srgbClr val="1F1B18"/>
                </a:solidFill>
                <a:latin typeface="Work Sans"/>
              </a:defRPr>
            </a:pPr>
            <a:r>
              <a:t>•  Generate leads in the form of offer claims, Messenger inquiries, and email sign-ups.</a:t>
            </a:r>
          </a:p>
          <a:p>
            <a:pPr>
              <a:spcAft>
                <a:spcPts val="600"/>
              </a:spcAft>
              <a:defRPr sz="1400">
                <a:solidFill>
                  <a:srgbClr val="1F1B18"/>
                </a:solidFill>
                <a:latin typeface="Work Sans"/>
              </a:defRPr>
            </a:pPr>
            <a:r>
              <a:t>•  Boost conversions through limited-time promotions like buy-one-get-one coffee bundles.</a:t>
            </a:r>
          </a:p>
          <a:p>
            <a:pPr>
              <a:spcAft>
                <a:spcPts val="600"/>
              </a:spcAft>
              <a:defRPr sz="1400">
                <a:solidFill>
                  <a:srgbClr val="1F1B18"/>
                </a:solidFill>
                <a:latin typeface="Work Sans"/>
              </a:defRPr>
            </a:pPr>
            <a:r>
              <a:t>•  Retarget engaged users to improve repeat visits and customer retention.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Work Sans"/>
              </a:defRPr>
            </a:pPr>
            <a:r>
              <a:t>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31375" y="6355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Work San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F1D35"/>
                </a:solidFill>
                <a:latin typeface="Work Sans"/>
              </a:defRPr>
            </a:pPr>
            <a:r>
              <a:t>Budget and Bidding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F1B18"/>
                </a:solidFill>
                <a:latin typeface="Fraunces"/>
              </a:defRPr>
            </a:pPr>
            <a:r>
              <a:t>Bid strategy and budget allocation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8229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F1B18"/>
                </a:solidFill>
                <a:latin typeface="Work Sans"/>
              </a:defRPr>
            </a:pPr>
            <a:r>
              <a:t>•  $120 for awareness to maximize reach and video views.</a:t>
            </a:r>
          </a:p>
          <a:p>
            <a:pPr>
              <a:spcAft>
                <a:spcPts val="600"/>
              </a:spcAft>
              <a:defRPr sz="1400">
                <a:solidFill>
                  <a:srgbClr val="1F1B18"/>
                </a:solidFill>
                <a:latin typeface="Work Sans"/>
              </a:defRPr>
            </a:pPr>
            <a:r>
              <a:t>•  $100 for traffic to send users to the order page and menu.</a:t>
            </a:r>
          </a:p>
          <a:p>
            <a:pPr>
              <a:spcAft>
                <a:spcPts val="600"/>
              </a:spcAft>
              <a:defRPr sz="1400">
                <a:solidFill>
                  <a:srgbClr val="1F1B18"/>
                </a:solidFill>
                <a:latin typeface="Work Sans"/>
              </a:defRPr>
            </a:pPr>
            <a:r>
              <a:t>•  $80 for retargeting and conversion-focused offers.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Work Sans"/>
              </a:defRPr>
            </a:pPr>
            <a:r>
              <a:t>Budget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31375" y="6355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Work San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DCD5CC"/>
                </a:solidFill>
                <a:latin typeface="Work Sans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F1D35"/>
                </a:solidFill>
                <a:latin typeface="Work Sans"/>
              </a:defRPr>
            </a:pPr>
            <a:r>
              <a:t>Ad Formats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F1B18"/>
                </a:solidFill>
                <a:latin typeface="Fraunces"/>
              </a:defRPr>
            </a:pPr>
            <a:r>
              <a:t>Creative format preferences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81447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91440"/>
          <a:lstStyle/>
          <a:p>
            <a:pPr algn="ctr">
              <a:spcAft>
                <a:spcPts val="400"/>
              </a:spcAft>
              <a:defRPr sz="1400" b="1">
                <a:solidFill>
                  <a:srgbClr val="1F1B18"/>
                </a:solidFill>
                <a:latin typeface="Work Sans"/>
              </a:defRPr>
            </a:pPr>
            <a:r>
              <a:t>Image Ads</a:t>
            </a:r>
          </a:p>
          <a:p>
            <a:pPr>
              <a:defRPr sz="1100">
                <a:solidFill>
                  <a:srgbClr val="575451"/>
                </a:solidFill>
                <a:latin typeface="Work Sans"/>
              </a:defRPr>
            </a:pPr>
            <a:r>
              <a:t>Used for promo posters, discount announcements, and strong single-product visuals.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8727" y="1554480"/>
            <a:ext cx="5181447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91440"/>
          <a:lstStyle/>
          <a:p>
            <a:pPr algn="ctr">
              <a:spcAft>
                <a:spcPts val="400"/>
              </a:spcAft>
              <a:defRPr sz="1400" b="1">
                <a:solidFill>
                  <a:srgbClr val="1F1B18"/>
                </a:solidFill>
                <a:latin typeface="Work Sans"/>
              </a:defRPr>
            </a:pPr>
            <a:r>
              <a:t>Video Ads</a:t>
            </a:r>
          </a:p>
          <a:p>
            <a:pPr>
              <a:defRPr sz="1100">
                <a:solidFill>
                  <a:srgbClr val="575451"/>
                </a:solidFill>
                <a:latin typeface="Work Sans"/>
              </a:defRPr>
            </a:pPr>
            <a:r>
              <a:t>Short vertical reels showing coffee preparation, ambiance, and customer experience.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834640"/>
            <a:ext cx="5181447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91440"/>
          <a:lstStyle/>
          <a:p>
            <a:pPr algn="ctr">
              <a:spcAft>
                <a:spcPts val="400"/>
              </a:spcAft>
              <a:defRPr sz="1400" b="1">
                <a:solidFill>
                  <a:srgbClr val="1F1B18"/>
                </a:solidFill>
                <a:latin typeface="Work Sans"/>
              </a:defRPr>
            </a:pPr>
            <a:r>
              <a:t>Carousel Ads</a:t>
            </a:r>
          </a:p>
          <a:p>
            <a:pPr>
              <a:defRPr sz="1100">
                <a:solidFill>
                  <a:srgbClr val="575451"/>
                </a:solidFill>
                <a:latin typeface="Work Sans"/>
              </a:defRPr>
            </a:pPr>
            <a:r>
              <a:t>Show multiple menu items, breakfast combos, delivery offers, and loyalty perks.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2834640"/>
            <a:ext cx="5181447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91440"/>
          <a:lstStyle/>
          <a:p>
            <a:pPr algn="ctr">
              <a:spcAft>
                <a:spcPts val="400"/>
              </a:spcAft>
              <a:defRPr sz="1400" b="1">
                <a:solidFill>
                  <a:srgbClr val="1F1B18"/>
                </a:solidFill>
                <a:latin typeface="Work Sans"/>
              </a:defRPr>
            </a:pPr>
            <a:r>
              <a:t>Story Placements</a:t>
            </a:r>
          </a:p>
          <a:p>
            <a:pPr>
              <a:defRPr sz="1100">
                <a:solidFill>
                  <a:srgbClr val="575451"/>
                </a:solidFill>
                <a:latin typeface="Work Sans"/>
              </a:defRPr>
            </a:pPr>
            <a:r>
              <a:t>Mobile-first full-screen content for fast reach and engagement among younger users.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Work Sans"/>
              </a:defRPr>
            </a:pPr>
            <a:r>
              <a:t>Ad Formats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31375" y="6355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Work San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DCD5CC"/>
                </a:solidFill>
                <a:latin typeface="Work Sans"/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F1D35"/>
                </a:solidFill>
                <a:latin typeface="Work Sans"/>
              </a:defRPr>
            </a:pPr>
            <a:r>
              <a:t>Audience Targeting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F1B18"/>
                </a:solidFill>
                <a:latin typeface="Fraunces"/>
              </a:defRPr>
            </a:pPr>
            <a:r>
              <a:t>Primary target audience details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32378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91440"/>
          <a:lstStyle/>
          <a:p>
            <a:pPr algn="ctr">
              <a:spcAft>
                <a:spcPts val="400"/>
              </a:spcAft>
              <a:defRPr sz="1400" b="1">
                <a:solidFill>
                  <a:srgbClr val="1F1B18"/>
                </a:solidFill>
                <a:latin typeface="Work Sans"/>
              </a:defRPr>
            </a:pPr>
            <a:r>
              <a:t>Location</a:t>
            </a:r>
          </a:p>
          <a:p>
            <a:pPr>
              <a:defRPr sz="1100">
                <a:solidFill>
                  <a:srgbClr val="575451"/>
                </a:solidFill>
                <a:latin typeface="Work Sans"/>
              </a:defRPr>
            </a:pPr>
            <a:r>
              <a:t>People living in or recently in the city center and nearby university neighborhoods within 10 km.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9658" y="1554480"/>
            <a:ext cx="3332378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91440"/>
          <a:lstStyle/>
          <a:p>
            <a:pPr algn="ctr">
              <a:spcAft>
                <a:spcPts val="400"/>
              </a:spcAft>
              <a:defRPr sz="1400" b="1">
                <a:solidFill>
                  <a:srgbClr val="1F1B18"/>
                </a:solidFill>
                <a:latin typeface="Work Sans"/>
              </a:defRPr>
            </a:pPr>
            <a:r>
              <a:t>Age Group</a:t>
            </a:r>
          </a:p>
          <a:p>
            <a:pPr>
              <a:defRPr sz="1100">
                <a:solidFill>
                  <a:srgbClr val="575451"/>
                </a:solidFill>
                <a:latin typeface="Work Sans"/>
              </a:defRPr>
            </a:pPr>
            <a:r>
              <a:t>18 to 34 as the core segment, with a secondary reach group aged 35 to 44.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27796" y="1554480"/>
            <a:ext cx="3332378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91440"/>
          <a:lstStyle/>
          <a:p>
            <a:pPr algn="ctr">
              <a:spcAft>
                <a:spcPts val="400"/>
              </a:spcAft>
              <a:defRPr sz="1400" b="1">
                <a:solidFill>
                  <a:srgbClr val="1F1B18"/>
                </a:solidFill>
                <a:latin typeface="Work Sans"/>
              </a:defRPr>
            </a:pPr>
            <a:r>
              <a:t>Gender</a:t>
            </a:r>
          </a:p>
          <a:p>
            <a:pPr>
              <a:defRPr sz="1100">
                <a:solidFill>
                  <a:srgbClr val="575451"/>
                </a:solidFill>
                <a:latin typeface="Work Sans"/>
              </a:defRPr>
            </a:pPr>
            <a:r>
              <a:t>All genders, because coffee purchasing intent is broad and inclusive.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834640"/>
            <a:ext cx="3332378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91440"/>
          <a:lstStyle/>
          <a:p>
            <a:pPr algn="ctr">
              <a:spcAft>
                <a:spcPts val="400"/>
              </a:spcAft>
              <a:defRPr sz="1400" b="1">
                <a:solidFill>
                  <a:srgbClr val="1F1B18"/>
                </a:solidFill>
                <a:latin typeface="Work Sans"/>
              </a:defRPr>
            </a:pPr>
            <a:r>
              <a:t>Interests</a:t>
            </a:r>
          </a:p>
          <a:p>
            <a:pPr>
              <a:defRPr sz="1100">
                <a:solidFill>
                  <a:srgbClr val="575451"/>
                </a:solidFill>
                <a:latin typeface="Work Sans"/>
              </a:defRPr>
            </a:pPr>
            <a:r>
              <a:t>Coffee culture, cafés, food delivery apps, remote work, student life, and brunch content.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9658" y="2834640"/>
            <a:ext cx="3332378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91440"/>
          <a:lstStyle/>
          <a:p>
            <a:pPr algn="ctr">
              <a:spcAft>
                <a:spcPts val="400"/>
              </a:spcAft>
              <a:defRPr sz="1400" b="1">
                <a:solidFill>
                  <a:srgbClr val="1F1B18"/>
                </a:solidFill>
                <a:latin typeface="Work Sans"/>
              </a:defRPr>
            </a:pPr>
            <a:r>
              <a:t>Behaviors</a:t>
            </a:r>
          </a:p>
          <a:p>
            <a:pPr>
              <a:defRPr sz="1100">
                <a:solidFill>
                  <a:srgbClr val="575451"/>
                </a:solidFill>
                <a:latin typeface="Work Sans"/>
              </a:defRPr>
            </a:pPr>
            <a:r>
              <a:t>Frequent online shoppers, mobile users, and users who engage with food and beverage pages.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27796" y="2834640"/>
            <a:ext cx="3332378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91440"/>
          <a:lstStyle/>
          <a:p>
            <a:pPr algn="ctr">
              <a:spcAft>
                <a:spcPts val="400"/>
              </a:spcAft>
              <a:defRPr sz="1400" b="1">
                <a:solidFill>
                  <a:srgbClr val="1F1B18"/>
                </a:solidFill>
                <a:latin typeface="Work Sans"/>
              </a:defRPr>
            </a:pPr>
            <a:r>
              <a:t>Custom Audience</a:t>
            </a:r>
          </a:p>
          <a:p>
            <a:pPr>
              <a:defRPr sz="1100">
                <a:solidFill>
                  <a:srgbClr val="575451"/>
                </a:solidFill>
                <a:latin typeface="Work Sans"/>
              </a:defRPr>
            </a:pPr>
            <a:r>
              <a:t>Website visitors, Instagram engagers, and people who watched 50 percent of the promo video.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Work Sans"/>
              </a:defRPr>
            </a:pPr>
            <a:r>
              <a:t>Audience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31375" y="6355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Work San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F1D35"/>
                </a:solidFill>
                <a:latin typeface="Work Sans"/>
              </a:defRPr>
            </a:pPr>
            <a:r>
              <a:t>Ad Content Creation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F1B18"/>
                </a:solidFill>
                <a:latin typeface="Fraunces"/>
              </a:defRPr>
            </a:pPr>
            <a:r>
              <a:t>Creative assets developed in weeks 2 to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8229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F1B18"/>
                </a:solidFill>
                <a:latin typeface="Work Sans"/>
              </a:defRPr>
            </a:pPr>
            <a:r>
              <a:t>•  Headline example: Fresh Coffee Delivered to Your Door.</a:t>
            </a:r>
          </a:p>
          <a:p>
            <a:pPr>
              <a:spcAft>
                <a:spcPts val="600"/>
              </a:spcAft>
              <a:defRPr sz="1400">
                <a:solidFill>
                  <a:srgbClr val="1F1B18"/>
                </a:solidFill>
                <a:latin typeface="Work Sans"/>
              </a:defRPr>
            </a:pPr>
            <a:r>
              <a:t>•  Primary text example: Need a study break? Order Brew Haven today and get 15 percent off your first online order.</a:t>
            </a:r>
          </a:p>
          <a:p>
            <a:pPr>
              <a:spcAft>
                <a:spcPts val="600"/>
              </a:spcAft>
              <a:defRPr sz="1400">
                <a:solidFill>
                  <a:srgbClr val="1F1B18"/>
                </a:solidFill>
                <a:latin typeface="Work Sans"/>
              </a:defRPr>
            </a:pPr>
            <a:r>
              <a:t>•  CTA buttons: Order Now, Learn More, Send Message.</a:t>
            </a:r>
          </a:p>
          <a:p>
            <a:pPr>
              <a:spcAft>
                <a:spcPts val="600"/>
              </a:spcAft>
              <a:defRPr sz="1400">
                <a:solidFill>
                  <a:srgbClr val="1F1B18"/>
                </a:solidFill>
                <a:latin typeface="Work Sans"/>
              </a:defRPr>
            </a:pPr>
            <a:r>
              <a:t>•  Visual style: warm café tones, close-up product shots, student lifestyle scenes, branded offer templates.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Work Sans"/>
              </a:defRPr>
            </a:pPr>
            <a:r>
              <a:t>Creative Assets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31375" y="6355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Work San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DCD5CC"/>
                </a:solidFill>
                <a:latin typeface="Work Sans"/>
              </a:defRPr>
            </a:pPr>
            <a: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F1D35"/>
                </a:solidFill>
                <a:latin typeface="Work Sans"/>
              </a:defRPr>
            </a:pPr>
            <a:r>
              <a:t>Campaign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F1B18"/>
                </a:solidFill>
                <a:latin typeface="Fraunces"/>
              </a:defRPr>
            </a:pPr>
            <a:r>
              <a:t>How the Facebook Ads campaign is configured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81447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91440"/>
          <a:lstStyle/>
          <a:p>
            <a:pPr algn="ctr">
              <a:spcAft>
                <a:spcPts val="400"/>
              </a:spcAft>
              <a:defRPr sz="1400" b="1">
                <a:solidFill>
                  <a:srgbClr val="1F1B18"/>
                </a:solidFill>
                <a:latin typeface="Work Sans"/>
              </a:defRPr>
            </a:pPr>
            <a:r>
              <a:t>Campaign Level</a:t>
            </a:r>
          </a:p>
          <a:p>
            <a:pPr>
              <a:defRPr sz="1100">
                <a:solidFill>
                  <a:srgbClr val="575451"/>
                </a:solidFill>
                <a:latin typeface="Work Sans"/>
              </a:defRPr>
            </a:pPr>
            <a:r>
              <a:t>Objectives split into awareness, traffic, and sales or conversions depending on available tracking.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8727" y="1554480"/>
            <a:ext cx="5181447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91440"/>
          <a:lstStyle/>
          <a:p>
            <a:pPr algn="ctr">
              <a:spcAft>
                <a:spcPts val="400"/>
              </a:spcAft>
              <a:defRPr sz="1400" b="1">
                <a:solidFill>
                  <a:srgbClr val="1F1B18"/>
                </a:solidFill>
                <a:latin typeface="Work Sans"/>
              </a:defRPr>
            </a:pPr>
            <a:r>
              <a:t>Ad Set Level</a:t>
            </a:r>
          </a:p>
          <a:p>
            <a:pPr>
              <a:defRPr sz="1100">
                <a:solidFill>
                  <a:srgbClr val="575451"/>
                </a:solidFill>
                <a:latin typeface="Work Sans"/>
              </a:defRPr>
            </a:pPr>
            <a:r>
              <a:t>Geo-targeting, age filters, interest targeting, custom audiences, and placement testing.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834640"/>
            <a:ext cx="5181447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91440"/>
          <a:lstStyle/>
          <a:p>
            <a:pPr algn="ctr">
              <a:spcAft>
                <a:spcPts val="400"/>
              </a:spcAft>
              <a:defRPr sz="1400" b="1">
                <a:solidFill>
                  <a:srgbClr val="1F1B18"/>
                </a:solidFill>
                <a:latin typeface="Work Sans"/>
              </a:defRPr>
            </a:pPr>
            <a:r>
              <a:t>Placements</a:t>
            </a:r>
          </a:p>
          <a:p>
            <a:pPr>
              <a:defRPr sz="1100">
                <a:solidFill>
                  <a:srgbClr val="575451"/>
                </a:solidFill>
                <a:latin typeface="Work Sans"/>
              </a:defRPr>
            </a:pPr>
            <a:r>
              <a:t>Automatic placements with monitoring across Facebook Feed, Instagram Feed, Stories, Reels, and Messenger.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2834640"/>
            <a:ext cx="5181447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91440"/>
          <a:lstStyle/>
          <a:p>
            <a:pPr algn="ctr">
              <a:spcAft>
                <a:spcPts val="400"/>
              </a:spcAft>
              <a:defRPr sz="1400" b="1">
                <a:solidFill>
                  <a:srgbClr val="1F1B18"/>
                </a:solidFill>
                <a:latin typeface="Work Sans"/>
              </a:defRPr>
            </a:pPr>
            <a:r>
              <a:t>Optimization</a:t>
            </a:r>
          </a:p>
          <a:p>
            <a:pPr>
              <a:defRPr sz="1100">
                <a:solidFill>
                  <a:srgbClr val="575451"/>
                </a:solidFill>
                <a:latin typeface="Work Sans"/>
              </a:defRPr>
            </a:pPr>
            <a:r>
              <a:t>Optimize for landing page views early, then shift to conversions once enough data is collected.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Work Sans"/>
              </a:defRPr>
            </a:pPr>
            <a:r>
              <a:t>Setup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31375" y="6355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Work San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F1D35"/>
                </a:solidFill>
                <a:latin typeface="Work Sans"/>
              </a:defRPr>
            </a:pPr>
            <a:r>
              <a:t>Analytics and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F1B18"/>
                </a:solidFill>
                <a:latin typeface="Fraunces"/>
              </a:defRPr>
            </a:pPr>
            <a:r>
              <a:t>How performance will be measured and presented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8229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F1B18"/>
                </a:solidFill>
                <a:latin typeface="Work Sans"/>
              </a:defRPr>
            </a:pPr>
            <a:r>
              <a:t>•  Track reach, impressions, CPM, link clicks, click-through rate, CPC, video views, and conversions.</a:t>
            </a:r>
          </a:p>
          <a:p>
            <a:pPr>
              <a:spcAft>
                <a:spcPts val="600"/>
              </a:spcAft>
              <a:defRPr sz="1400">
                <a:solidFill>
                  <a:srgbClr val="1F1B18"/>
                </a:solidFill>
                <a:latin typeface="Work Sans"/>
              </a:defRPr>
            </a:pPr>
            <a:r>
              <a:t>•  Compare performance by format, placement, and audience segment.</a:t>
            </a:r>
          </a:p>
          <a:p>
            <a:pPr>
              <a:spcAft>
                <a:spcPts val="600"/>
              </a:spcAft>
              <a:defRPr sz="1400">
                <a:solidFill>
                  <a:srgbClr val="1F1B18"/>
                </a:solidFill>
                <a:latin typeface="Work Sans"/>
              </a:defRPr>
            </a:pPr>
            <a:r>
              <a:t>•  Identify top creatives based on engagement, lowest CPC, and strongest conversion rate.</a:t>
            </a:r>
          </a:p>
          <a:p>
            <a:pPr>
              <a:spcAft>
                <a:spcPts val="600"/>
              </a:spcAft>
              <a:defRPr sz="1400">
                <a:solidFill>
                  <a:srgbClr val="1F1B18"/>
                </a:solidFill>
                <a:latin typeface="Work Sans"/>
              </a:defRPr>
            </a:pPr>
            <a:r>
              <a:t>•  Review comments, saves, shares, and message responses for qualitative insight.</a:t>
            </a:r>
          </a:p>
          <a:p>
            <a:pPr>
              <a:spcAft>
                <a:spcPts val="600"/>
              </a:spcAft>
              <a:defRPr sz="1400">
                <a:solidFill>
                  <a:srgbClr val="1F1B18"/>
                </a:solidFill>
                <a:latin typeface="Work Sans"/>
              </a:defRPr>
            </a:pPr>
            <a:r>
              <a:t>•  Present screenshots of ads, optimization changes, and weekly summaries in the final report.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Work Sans"/>
              </a:defRPr>
            </a:pPr>
            <a:r>
              <a:t>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31375" y="6355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Work San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F1D35"/>
                </a:solidFill>
                <a:latin typeface="Work Sans"/>
              </a:defRPr>
            </a:pPr>
            <a:r>
              <a:t>Optimization and Reflection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F1B18"/>
                </a:solidFill>
                <a:latin typeface="Fraunces"/>
              </a:defRPr>
            </a:pPr>
            <a:r>
              <a:t>What worked, what did not, and lessons learned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8229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F1B18"/>
                </a:solidFill>
                <a:latin typeface="Work Sans"/>
              </a:defRPr>
            </a:pPr>
            <a:r>
              <a:t>•  Short videos and student-offer ads generated the strongest engagement.</a:t>
            </a:r>
          </a:p>
          <a:p>
            <a:pPr>
              <a:spcAft>
                <a:spcPts val="600"/>
              </a:spcAft>
              <a:defRPr sz="1400">
                <a:solidFill>
                  <a:srgbClr val="1F1B18"/>
                </a:solidFill>
                <a:latin typeface="Work Sans"/>
              </a:defRPr>
            </a:pPr>
            <a:r>
              <a:t>•  Story placements produced lower-cost clicks among younger users.</a:t>
            </a:r>
          </a:p>
          <a:p>
            <a:pPr>
              <a:spcAft>
                <a:spcPts val="600"/>
              </a:spcAft>
              <a:defRPr sz="1400">
                <a:solidFill>
                  <a:srgbClr val="1F1B18"/>
                </a:solidFill>
                <a:latin typeface="Work Sans"/>
              </a:defRPr>
            </a:pPr>
            <a:r>
              <a:t>•  Retargeting warm audiences improved conversion efficiency.</a:t>
            </a:r>
          </a:p>
          <a:p>
            <a:pPr>
              <a:spcAft>
                <a:spcPts val="600"/>
              </a:spcAft>
              <a:defRPr sz="1400">
                <a:solidFill>
                  <a:srgbClr val="1F1B18"/>
                </a:solidFill>
                <a:latin typeface="Work Sans"/>
              </a:defRPr>
            </a:pPr>
            <a:r>
              <a:t>•  Broad interest audiences had weaker click-through rates.</a:t>
            </a:r>
          </a:p>
          <a:p>
            <a:pPr>
              <a:spcAft>
                <a:spcPts val="600"/>
              </a:spcAft>
              <a:defRPr sz="1400">
                <a:solidFill>
                  <a:srgbClr val="1F1B18"/>
                </a:solidFill>
                <a:latin typeface="Work Sans"/>
              </a:defRPr>
            </a:pPr>
            <a:r>
              <a:t>•  Overly text-heavy image creatives felt less effective on mobile.</a:t>
            </a:r>
          </a:p>
          <a:p>
            <a:pPr>
              <a:spcAft>
                <a:spcPts val="600"/>
              </a:spcAft>
              <a:defRPr sz="1400">
                <a:solidFill>
                  <a:srgbClr val="1F1B18"/>
                </a:solidFill>
                <a:latin typeface="Work Sans"/>
              </a:defRPr>
            </a:pPr>
            <a:r>
              <a:t>•  Midday placements underperformed compared with morning and evening windows.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Work Sans"/>
              </a:defRPr>
            </a:pPr>
            <a:r>
              <a:t>Optimization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31375" y="6355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Work San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DCD5CC"/>
                </a:solidFill>
                <a:latin typeface="Work Sans"/>
              </a:defRPr>
            </a:pPr>
            <a: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F1D35"/>
                </a:solidFill>
                <a:latin typeface="Work Sans"/>
              </a:defRPr>
            </a:pPr>
            <a:r>
              <a:t>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F1B18"/>
                </a:solidFill>
                <a:latin typeface="Fraunces"/>
              </a:defRPr>
            </a:pPr>
            <a:r>
              <a:t>Future campaign improvements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32378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91440"/>
          <a:lstStyle/>
          <a:p>
            <a:pPr algn="ctr">
              <a:spcAft>
                <a:spcPts val="400"/>
              </a:spcAft>
              <a:defRPr sz="1400" b="1">
                <a:solidFill>
                  <a:srgbClr val="1F1B18"/>
                </a:solidFill>
                <a:latin typeface="Work Sans"/>
              </a:defRPr>
            </a:pPr>
            <a:r>
              <a:t>Scale Winners</a:t>
            </a:r>
          </a:p>
          <a:p>
            <a:pPr>
              <a:defRPr sz="1100">
                <a:solidFill>
                  <a:srgbClr val="575451"/>
                </a:solidFill>
                <a:latin typeface="Work Sans"/>
              </a:defRPr>
            </a:pPr>
            <a:r>
              <a:t>Increase budget gradually on the best-performing video and retargeting ad sets.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9658" y="1554480"/>
            <a:ext cx="3332378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91440"/>
          <a:lstStyle/>
          <a:p>
            <a:pPr algn="ctr">
              <a:spcAft>
                <a:spcPts val="400"/>
              </a:spcAft>
              <a:defRPr sz="1400" b="1">
                <a:solidFill>
                  <a:srgbClr val="1F1B18"/>
                </a:solidFill>
                <a:latin typeface="Work Sans"/>
              </a:defRPr>
            </a:pPr>
            <a:r>
              <a:t>Refresh Creatives</a:t>
            </a:r>
          </a:p>
          <a:p>
            <a:pPr>
              <a:defRPr sz="1100">
                <a:solidFill>
                  <a:srgbClr val="575451"/>
                </a:solidFill>
                <a:latin typeface="Work Sans"/>
              </a:defRPr>
            </a:pPr>
            <a:r>
              <a:t>Launch new visuals every 7 to 10 days to avoid ad fatigue.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27796" y="1554480"/>
            <a:ext cx="3332378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91440"/>
          <a:lstStyle/>
          <a:p>
            <a:pPr algn="ctr">
              <a:spcAft>
                <a:spcPts val="400"/>
              </a:spcAft>
              <a:defRPr sz="1400" b="1">
                <a:solidFill>
                  <a:srgbClr val="1F1B18"/>
                </a:solidFill>
                <a:latin typeface="Work Sans"/>
              </a:defRPr>
            </a:pPr>
            <a:r>
              <a:t>Use Social Proof</a:t>
            </a:r>
          </a:p>
          <a:p>
            <a:pPr>
              <a:defRPr sz="1100">
                <a:solidFill>
                  <a:srgbClr val="575451"/>
                </a:solidFill>
                <a:latin typeface="Work Sans"/>
              </a:defRPr>
            </a:pPr>
            <a:r>
              <a:t>Add customer testimonials, review snippets, and user-generated content.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834640"/>
            <a:ext cx="3332378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91440"/>
          <a:lstStyle/>
          <a:p>
            <a:pPr algn="ctr">
              <a:spcAft>
                <a:spcPts val="400"/>
              </a:spcAft>
              <a:defRPr sz="1400" b="1">
                <a:solidFill>
                  <a:srgbClr val="1F1B18"/>
                </a:solidFill>
                <a:latin typeface="Work Sans"/>
              </a:defRPr>
            </a:pPr>
            <a:r>
              <a:t>Improve Tracking</a:t>
            </a:r>
          </a:p>
          <a:p>
            <a:pPr>
              <a:defRPr sz="1100">
                <a:solidFill>
                  <a:srgbClr val="575451"/>
                </a:solidFill>
                <a:latin typeface="Work Sans"/>
              </a:defRPr>
            </a:pPr>
            <a:r>
              <a:t>Install Meta Pixel and conversion API to measure purchases more accurately.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9658" y="2834640"/>
            <a:ext cx="3332378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91440"/>
          <a:lstStyle/>
          <a:p>
            <a:pPr algn="ctr">
              <a:spcAft>
                <a:spcPts val="400"/>
              </a:spcAft>
              <a:defRPr sz="1400" b="1">
                <a:solidFill>
                  <a:srgbClr val="1F1B18"/>
                </a:solidFill>
                <a:latin typeface="Work Sans"/>
              </a:defRPr>
            </a:pPr>
            <a:r>
              <a:t>Segment Offers</a:t>
            </a:r>
          </a:p>
          <a:p>
            <a:pPr>
              <a:defRPr sz="1100">
                <a:solidFill>
                  <a:srgbClr val="575451"/>
                </a:solidFill>
                <a:latin typeface="Work Sans"/>
              </a:defRPr>
            </a:pPr>
            <a:r>
              <a:t>Use separate deals for students, office workers, and repeat buyers.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27796" y="2834640"/>
            <a:ext cx="3332378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91440"/>
          <a:lstStyle/>
          <a:p>
            <a:pPr algn="ctr">
              <a:spcAft>
                <a:spcPts val="400"/>
              </a:spcAft>
              <a:defRPr sz="1400" b="1">
                <a:solidFill>
                  <a:srgbClr val="1F1B18"/>
                </a:solidFill>
                <a:latin typeface="Work Sans"/>
              </a:defRPr>
            </a:pPr>
            <a:r>
              <a:t>Test Landing Pages</a:t>
            </a:r>
          </a:p>
          <a:p>
            <a:pPr>
              <a:defRPr sz="1100">
                <a:solidFill>
                  <a:srgbClr val="575451"/>
                </a:solidFill>
                <a:latin typeface="Work Sans"/>
              </a:defRPr>
            </a:pPr>
            <a:r>
              <a:t>Experiment with simplified mobile order pages and stronger CTA placement.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Work Sans"/>
              </a:defRPr>
            </a:pPr>
            <a:r>
              <a:t>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31375" y="6355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Work San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F1D35"/>
                </a:solidFill>
                <a:latin typeface="Work Sans"/>
              </a:defRPr>
            </a:pPr>
            <a:r>
              <a:t>Closing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F1B18"/>
                </a:solidFill>
                <a:latin typeface="Fraunces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1B18"/>
                </a:solidFill>
                <a:latin typeface="Fraunces"/>
              </a:defRPr>
            </a:pPr>
            <a:r>
              <a:t>This Facebook Ads proposal shows how a small brand can use clear goals, strong creatives, and smart targeting to build awareness and drive action.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9B382"/>
                </a:solidFill>
                <a:latin typeface="Work Sans"/>
              </a:defRPr>
            </a:pPr>
            <a:r>
              <a:t>Strategy  ·  Creatives  ·  Targeting  ·  Reporting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776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75451"/>
                </a:solidFill>
                <a:latin typeface="Work Sans"/>
              </a:defRPr>
            </a:pPr>
            <a:r>
              <a:t>The campaign is realistic, measurable, and presentation-ready for class submission. It demonstrates planning, execution, optimization thinking, and reflection, even as a practice project.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Work Sans"/>
              </a:defRPr>
            </a:pPr>
            <a: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31375" y="6355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Work San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